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C9D58A3-D897-08D9-5F53-9D00C767077A}">
          <p14:sldIdLst>
            <p14:sldId id="256"/>
            <p14:sldId id="257"/>
          </p14:sldIdLst>
        </p14:section>
        <p14:section name="Findings" id="{41DF1B62-A0B8-8553-F1F3-6ED8850BFF96}">
          <p14:sldIdLst>
            <p14:sldId id="258"/>
            <p14:sldId id="259"/>
            <p14:sldId id="260"/>
            <p14:sldId id="261"/>
            <p14:sldId id="262"/>
          </p14:sldIdLst>
        </p14:section>
        <p14:section name="Wrap-up" id="{3E73BA22-97B9-9175-4833-E1DCEB04C29B}">
          <p14:sldIdLst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65" y="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004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question. The dataset is the public IBM HR Analytics sample (1,470 employees); the design is a Teleperformance-inspired concept, not affiliated.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 quickly; the point is that the findings sit on a clean, well-modelled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baseline: 16.1% attrition. Everything after this asks who is above that line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Overview page, Attrition Hotspots By Job Role (rate by role). Read values are approximate, from the chart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30.5% is the OverTime Attrition Rate KPI. The 10.4% comparison is calculated from the report's counts: 110 leavers among 1,054 employees without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Workforce Retention Vulnerabilities page. 102 of 237 leavers is 43%.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these are signals, not causes. This is also the honest limit of a single-snapshot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a live walkthrough of the Power BI report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hypotheses to test, which is what a good analyst would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 and offering the live Power BI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title"/>
          <p:cNvSpPr txBox="1"/>
          <p:nvPr/>
        </p:nvSpPr>
        <p:spPr>
          <a:xfrm>
            <a:off x="731520" y="1000354"/>
            <a:ext cx="475488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HR Attrition Analysis</a:t>
            </a:r>
            <a:endParaRPr lang="en-US" sz="3600" dirty="0"/>
          </a:p>
        </p:txBody>
      </p:sp>
      <p:sp>
        <p:nvSpPr>
          <p:cNvPr id="3" name="Cover summary"/>
          <p:cNvSpPr txBox="1"/>
          <p:nvPr/>
        </p:nvSpPr>
        <p:spPr>
          <a:xfrm>
            <a:off x="73152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accent1"/>
                </a:solidFill>
              </a:rPr>
              <a:t>Why do employees leave?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Behind every resignation is a story: what happened and why it happened.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That’s what the next pages set out to find.</a:t>
            </a:r>
            <a:endParaRPr lang="en-US" sz="1600" dirty="0"/>
          </a:p>
        </p:txBody>
      </p:sp>
      <p:sp>
        <p:nvSpPr>
          <p:cNvPr id="4" name="Author line"/>
          <p:cNvSpPr txBox="1"/>
          <p:nvPr/>
        </p:nvSpPr>
        <p:spPr>
          <a:xfrm>
            <a:off x="431473" y="6400800"/>
            <a:ext cx="8148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/>
                </a:solidFill>
              </a:rPr>
              <a:t>Done by Muhammed Ateff</a:t>
            </a:r>
            <a:endParaRPr lang="en-US" sz="13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raw HR data to a clear attrition story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645920"/>
            <a:ext cx="2567864" cy="3657600"/>
          </a:xfrm>
          <a:prstGeom prst="roundRect">
            <a:avLst>
              <a:gd name="adj" fmla="val 4985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tep number 1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ep digit 1"/>
          <p:cNvSpPr txBox="1"/>
          <p:nvPr/>
        </p:nvSpPr>
        <p:spPr>
          <a:xfrm>
            <a:off x="868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Step title 1"/>
          <p:cNvSpPr txBox="1"/>
          <p:nvPr/>
        </p:nvSpPr>
        <p:spPr>
          <a:xfrm>
            <a:off x="868680" y="2834640"/>
            <a:ext cx="192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Clean</a:t>
            </a:r>
            <a:endParaRPr lang="en-US" sz="2400" dirty="0"/>
          </a:p>
        </p:txBody>
      </p:sp>
      <p:sp>
        <p:nvSpPr>
          <p:cNvPr id="7" name="Step tool 1"/>
          <p:cNvSpPr txBox="1"/>
          <p:nvPr/>
        </p:nvSpPr>
        <p:spPr>
          <a:xfrm>
            <a:off x="868680" y="3291840"/>
            <a:ext cx="1927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Power Query</a:t>
            </a:r>
            <a:endParaRPr lang="en-US" sz="1600" dirty="0"/>
          </a:p>
        </p:txBody>
      </p:sp>
      <p:sp>
        <p:nvSpPr>
          <p:cNvPr id="8" name="Step text 1"/>
          <p:cNvSpPr txBox="1"/>
          <p:nvPr/>
        </p:nvSpPr>
        <p:spPr>
          <a:xfrm>
            <a:off x="868680" y="3749040"/>
            <a:ext cx="1927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Removed constant and noise columns, fixed data types, built age and income bins and 0/1 flags.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3390824" y="1645920"/>
            <a:ext cx="2567864" cy="3657600"/>
          </a:xfrm>
          <a:prstGeom prst="roundRect">
            <a:avLst>
              <a:gd name="adj" fmla="val 4985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tep number 2"/>
          <p:cNvSpPr/>
          <p:nvPr/>
        </p:nvSpPr>
        <p:spPr>
          <a:xfrm>
            <a:off x="3710864" y="1965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digit 2"/>
          <p:cNvSpPr txBox="1"/>
          <p:nvPr/>
        </p:nvSpPr>
        <p:spPr>
          <a:xfrm>
            <a:off x="3710864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Step title 2"/>
          <p:cNvSpPr txBox="1"/>
          <p:nvPr/>
        </p:nvSpPr>
        <p:spPr>
          <a:xfrm>
            <a:off x="3710864" y="2834640"/>
            <a:ext cx="192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Model</a:t>
            </a:r>
            <a:endParaRPr lang="en-US" sz="2400" dirty="0"/>
          </a:p>
        </p:txBody>
      </p:sp>
      <p:sp>
        <p:nvSpPr>
          <p:cNvPr id="13" name="Step tool 2"/>
          <p:cNvSpPr txBox="1"/>
          <p:nvPr/>
        </p:nvSpPr>
        <p:spPr>
          <a:xfrm>
            <a:off x="3710864" y="3291840"/>
            <a:ext cx="1927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Star schema</a:t>
            </a:r>
            <a:endParaRPr lang="en-US" sz="1600" dirty="0"/>
          </a:p>
        </p:txBody>
      </p:sp>
      <p:sp>
        <p:nvSpPr>
          <p:cNvPr id="14" name="Step text 2"/>
          <p:cNvSpPr txBox="1"/>
          <p:nvPr/>
        </p:nvSpPr>
        <p:spPr>
          <a:xfrm>
            <a:off x="3710864" y="3749040"/>
            <a:ext cx="1927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One fact table and eight dimensions, all one-to-many with single-direction filters.</a:t>
            </a:r>
            <a:endParaRPr lang="en-US" sz="1400" dirty="0"/>
          </a:p>
        </p:txBody>
      </p:sp>
      <p:sp>
        <p:nvSpPr>
          <p:cNvPr id="15" name="Step card 3"/>
          <p:cNvSpPr/>
          <p:nvPr/>
        </p:nvSpPr>
        <p:spPr>
          <a:xfrm>
            <a:off x="6233008" y="1645920"/>
            <a:ext cx="2567864" cy="3657600"/>
          </a:xfrm>
          <a:prstGeom prst="roundRect">
            <a:avLst>
              <a:gd name="adj" fmla="val 4985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tep number 3"/>
          <p:cNvSpPr/>
          <p:nvPr/>
        </p:nvSpPr>
        <p:spPr>
          <a:xfrm>
            <a:off x="6553048" y="1965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ep digit 3"/>
          <p:cNvSpPr txBox="1"/>
          <p:nvPr/>
        </p:nvSpPr>
        <p:spPr>
          <a:xfrm>
            <a:off x="65530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Step title 3"/>
          <p:cNvSpPr txBox="1"/>
          <p:nvPr/>
        </p:nvSpPr>
        <p:spPr>
          <a:xfrm>
            <a:off x="6553048" y="2834640"/>
            <a:ext cx="192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Measure</a:t>
            </a:r>
            <a:endParaRPr lang="en-US" sz="2400" dirty="0"/>
          </a:p>
        </p:txBody>
      </p:sp>
      <p:sp>
        <p:nvSpPr>
          <p:cNvPr id="19" name="Step tool 3"/>
          <p:cNvSpPr txBox="1"/>
          <p:nvPr/>
        </p:nvSpPr>
        <p:spPr>
          <a:xfrm>
            <a:off x="6553048" y="3291840"/>
            <a:ext cx="1927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DAX KPIs</a:t>
            </a:r>
            <a:endParaRPr lang="en-US" sz="1600" dirty="0"/>
          </a:p>
        </p:txBody>
      </p:sp>
      <p:sp>
        <p:nvSpPr>
          <p:cNvPr id="20" name="Step text 3"/>
          <p:cNvSpPr txBox="1"/>
          <p:nvPr/>
        </p:nvSpPr>
        <p:spPr>
          <a:xfrm>
            <a:off x="6553048" y="3749040"/>
            <a:ext cx="1927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Attrition rate, overtime rate, early attrition, high-performer attrition and more.</a:t>
            </a:r>
            <a:endParaRPr lang="en-US" sz="1400" dirty="0"/>
          </a:p>
        </p:txBody>
      </p:sp>
      <p:sp>
        <p:nvSpPr>
          <p:cNvPr id="21" name="Step card 4"/>
          <p:cNvSpPr/>
          <p:nvPr/>
        </p:nvSpPr>
        <p:spPr>
          <a:xfrm>
            <a:off x="9075191" y="1645920"/>
            <a:ext cx="2567864" cy="3657600"/>
          </a:xfrm>
          <a:prstGeom prst="roundRect">
            <a:avLst>
              <a:gd name="adj" fmla="val 4985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tep number 4"/>
          <p:cNvSpPr/>
          <p:nvPr/>
        </p:nvSpPr>
        <p:spPr>
          <a:xfrm>
            <a:off x="9395231" y="19659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 digit 4"/>
          <p:cNvSpPr txBox="1"/>
          <p:nvPr/>
        </p:nvSpPr>
        <p:spPr>
          <a:xfrm>
            <a:off x="9395231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4" name="Step title 4"/>
          <p:cNvSpPr txBox="1"/>
          <p:nvPr/>
        </p:nvSpPr>
        <p:spPr>
          <a:xfrm>
            <a:off x="9395231" y="2834640"/>
            <a:ext cx="1927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Visualize</a:t>
            </a:r>
            <a:endParaRPr lang="en-US" sz="2400" dirty="0"/>
          </a:p>
        </p:txBody>
      </p:sp>
      <p:sp>
        <p:nvSpPr>
          <p:cNvPr id="25" name="Step tool 4"/>
          <p:cNvSpPr txBox="1"/>
          <p:nvPr/>
        </p:nvSpPr>
        <p:spPr>
          <a:xfrm>
            <a:off x="9395231" y="3291840"/>
            <a:ext cx="1927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report pages</a:t>
            </a:r>
            <a:endParaRPr lang="en-US" sz="1600" dirty="0"/>
          </a:p>
        </p:txBody>
      </p:sp>
      <p:sp>
        <p:nvSpPr>
          <p:cNvPr id="26" name="Step text 4"/>
          <p:cNvSpPr txBox="1"/>
          <p:nvPr/>
        </p:nvSpPr>
        <p:spPr>
          <a:xfrm>
            <a:off x="9395231" y="3749040"/>
            <a:ext cx="1927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Overview, root causes, and retention vulnerabilities, with navigation and a detail drill-through.</a:t>
            </a:r>
            <a:endParaRPr lang="en-US" sz="1400" dirty="0"/>
          </a:p>
        </p:txBody>
      </p:sp>
      <p:sp>
        <p:nvSpPr>
          <p:cNvPr id="27" name="Data note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Data contain 1,470 employees.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Workforce Attrition Summary</a:t>
            </a:r>
            <a:endParaRPr lang="en-US" sz="3200" dirty="0"/>
          </a:p>
        </p:txBody>
      </p:sp>
      <p:sp>
        <p:nvSpPr>
          <p:cNvPr id="3" name="KPI card 1"/>
          <p:cNvSpPr/>
          <p:nvPr/>
        </p:nvSpPr>
        <p:spPr>
          <a:xfrm>
            <a:off x="548640" y="1554480"/>
            <a:ext cx="365760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KPI value 1"/>
          <p:cNvSpPr txBox="1"/>
          <p:nvPr/>
        </p:nvSpPr>
        <p:spPr>
          <a:xfrm>
            <a:off x="868680" y="1645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16.1%</a:t>
            </a:r>
            <a:endParaRPr lang="en-US" sz="4000" dirty="0"/>
          </a:p>
        </p:txBody>
      </p:sp>
      <p:sp>
        <p:nvSpPr>
          <p:cNvPr id="5" name="KPI label 1"/>
          <p:cNvSpPr txBox="1"/>
          <p:nvPr/>
        </p:nvSpPr>
        <p:spPr>
          <a:xfrm>
            <a:off x="2606040" y="16459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Attrition rate</a:t>
            </a:r>
            <a:endParaRPr lang="en-US" sz="1600" dirty="0"/>
          </a:p>
        </p:txBody>
      </p:sp>
      <p:sp>
        <p:nvSpPr>
          <p:cNvPr id="6" name="KPI card 2"/>
          <p:cNvSpPr/>
          <p:nvPr/>
        </p:nvSpPr>
        <p:spPr>
          <a:xfrm>
            <a:off x="548640" y="2898648"/>
            <a:ext cx="365760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KPI value 2"/>
          <p:cNvSpPr txBox="1"/>
          <p:nvPr/>
        </p:nvSpPr>
        <p:spPr>
          <a:xfrm>
            <a:off x="868680" y="299008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237</a:t>
            </a:r>
            <a:endParaRPr lang="en-US" sz="4000" dirty="0"/>
          </a:p>
        </p:txBody>
      </p:sp>
      <p:sp>
        <p:nvSpPr>
          <p:cNvPr id="8" name="KPI label 2"/>
          <p:cNvSpPr txBox="1"/>
          <p:nvPr/>
        </p:nvSpPr>
        <p:spPr>
          <a:xfrm>
            <a:off x="2606040" y="2990088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Employees who left</a:t>
            </a:r>
            <a:endParaRPr lang="en-US" sz="1600" dirty="0"/>
          </a:p>
        </p:txBody>
      </p:sp>
      <p:sp>
        <p:nvSpPr>
          <p:cNvPr id="9" name="KPI card 3"/>
          <p:cNvSpPr/>
          <p:nvPr/>
        </p:nvSpPr>
        <p:spPr>
          <a:xfrm>
            <a:off x="548640" y="4242816"/>
            <a:ext cx="3657600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KPI value 3"/>
          <p:cNvSpPr txBox="1"/>
          <p:nvPr/>
        </p:nvSpPr>
        <p:spPr>
          <a:xfrm>
            <a:off x="868680" y="4334256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1,470</a:t>
            </a:r>
            <a:endParaRPr lang="en-US" sz="4000" dirty="0"/>
          </a:p>
        </p:txBody>
      </p:sp>
      <p:sp>
        <p:nvSpPr>
          <p:cNvPr id="11" name="KPI label 3"/>
          <p:cNvSpPr txBox="1"/>
          <p:nvPr/>
        </p:nvSpPr>
        <p:spPr>
          <a:xfrm>
            <a:off x="2606040" y="4334256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Employees in the dataset</a:t>
            </a:r>
            <a:endParaRPr lang="en-US" sz="1600" dirty="0"/>
          </a:p>
        </p:txBody>
      </p:sp>
      <p:sp>
        <p:nvSpPr>
          <p:cNvPr id="12" name="Overview screenshot card"/>
          <p:cNvSpPr/>
          <p:nvPr/>
        </p:nvSpPr>
        <p:spPr>
          <a:xfrm>
            <a:off x="4526280" y="1554480"/>
            <a:ext cx="7114032" cy="3950208"/>
          </a:xfrm>
          <a:prstGeom prst="roundRect">
            <a:avLst>
              <a:gd name="adj" fmla="val 3241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Overview page of the Power BI report" descr="Overview page of the Power BI repo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5920"/>
            <a:ext cx="6931152" cy="3756917"/>
          </a:xfrm>
          <a:prstGeom prst="rect">
            <a:avLst/>
          </a:prstGeom>
        </p:spPr>
      </p:pic>
      <p:sp>
        <p:nvSpPr>
          <p:cNvPr id="14" name="Context line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Average age of employees is </a:t>
            </a:r>
            <a:r>
              <a:rPr lang="en-US" sz="1600" b="1" u="sng" dirty="0">
                <a:solidFill>
                  <a:schemeClr val="tx2"/>
                </a:solidFill>
              </a:rPr>
              <a:t>37 </a:t>
            </a:r>
            <a:r>
              <a:rPr lang="en-US" sz="1600" dirty="0">
                <a:solidFill>
                  <a:schemeClr val="tx2"/>
                </a:solidFill>
              </a:rPr>
              <a:t>and average tenure is </a:t>
            </a:r>
            <a:r>
              <a:rPr lang="en-US" sz="1600" b="1" u="sng" dirty="0">
                <a:solidFill>
                  <a:schemeClr val="tx2"/>
                </a:solidFill>
              </a:rPr>
              <a:t>7</a:t>
            </a:r>
            <a:r>
              <a:rPr lang="en-US" sz="1600" b="1" dirty="0">
                <a:solidFill>
                  <a:schemeClr val="tx2"/>
                </a:solidFill>
              </a:rPr>
              <a:t> </a:t>
            </a:r>
            <a:r>
              <a:rPr lang="en-US" sz="1600" dirty="0">
                <a:solidFill>
                  <a:schemeClr val="tx2"/>
                </a:solidFill>
              </a:rPr>
              <a:t>years. Research &amp; Development is </a:t>
            </a:r>
            <a:r>
              <a:rPr lang="en-US" sz="1600" b="1" i="1" dirty="0">
                <a:solidFill>
                  <a:schemeClr val="tx2"/>
                </a:solidFill>
              </a:rPr>
              <a:t>65% of staff (961 people).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Sales Representatives leave at 2.5× the company rate</a:t>
            </a:r>
            <a:endParaRPr lang="en-US" sz="3200" dirty="0"/>
          </a:p>
        </p:txBody>
      </p:sp>
      <p:sp>
        <p:nvSpPr>
          <p:cNvPr id="3" name="Role stat card"/>
          <p:cNvSpPr/>
          <p:nvPr/>
        </p:nvSpPr>
        <p:spPr>
          <a:xfrm>
            <a:off x="548640" y="1554480"/>
            <a:ext cx="4114800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Role stat"/>
          <p:cNvSpPr txBox="1"/>
          <p:nvPr/>
        </p:nvSpPr>
        <p:spPr>
          <a:xfrm>
            <a:off x="914400" y="1783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~40%</a:t>
            </a:r>
            <a:endParaRPr lang="en-US" sz="6000" dirty="0"/>
          </a:p>
        </p:txBody>
      </p:sp>
      <p:sp>
        <p:nvSpPr>
          <p:cNvPr id="5" name="Role stat label"/>
          <p:cNvSpPr txBox="1"/>
          <p:nvPr/>
        </p:nvSpPr>
        <p:spPr>
          <a:xfrm>
            <a:off x="914400" y="2834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attrition rate for Sales Representatives, against 16.1% company-wide</a:t>
            </a:r>
            <a:endParaRPr lang="en-US" sz="1600" dirty="0"/>
          </a:p>
        </p:txBody>
      </p:sp>
      <p:sp>
        <p:nvSpPr>
          <p:cNvPr id="6" name="Role bullets"/>
          <p:cNvSpPr txBox="1"/>
          <p:nvPr/>
        </p:nvSpPr>
        <p:spPr>
          <a:xfrm>
            <a:off x="914400" y="384048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Laboratory Technician (~24%) and Human Resources (~23%) follow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Managers (~5%) and Healthcare Representatives (~7%) are the most stable</a:t>
            </a:r>
            <a:endParaRPr lang="en-US" sz="1400" dirty="0"/>
          </a:p>
        </p:txBody>
      </p:sp>
      <p:sp>
        <p:nvSpPr>
          <p:cNvPr id="7" name="Role chart card"/>
          <p:cNvSpPr/>
          <p:nvPr/>
        </p:nvSpPr>
        <p:spPr>
          <a:xfrm>
            <a:off x="4937760" y="1554480"/>
            <a:ext cx="6702552" cy="3154680"/>
          </a:xfrm>
          <a:prstGeom prst="roundRect">
            <a:avLst>
              <a:gd name="adj" fmla="val 4058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Attrition rate by job role" descr="Attrition rate by job ro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691640"/>
            <a:ext cx="6428232" cy="2823799"/>
          </a:xfrm>
          <a:prstGeom prst="rect">
            <a:avLst/>
          </a:prstGeom>
        </p:spPr>
      </p:pic>
      <p:sp>
        <p:nvSpPr>
          <p:cNvPr id="9" name="Role takeaway"/>
          <p:cNvSpPr txBox="1"/>
          <p:nvPr/>
        </p:nvSpPr>
        <p:spPr>
          <a:xfrm>
            <a:off x="4937760" y="4937760"/>
            <a:ext cx="6702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Rates, not headcounts, show where the risk sits: a big role can have many leavers and still a normal rate.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Overtime triples the chance of leaving</a:t>
            </a:r>
            <a:endParaRPr lang="en-US" sz="3200" dirty="0"/>
          </a:p>
        </p:txBody>
      </p:sp>
      <p:sp>
        <p:nvSpPr>
          <p:cNvPr id="3" name="Overtime chart card"/>
          <p:cNvSpPr/>
          <p:nvPr/>
        </p:nvSpPr>
        <p:spPr>
          <a:xfrm>
            <a:off x="548640" y="1554480"/>
            <a:ext cx="5760720" cy="4206240"/>
          </a:xfrm>
          <a:prstGeom prst="roundRect">
            <a:avLst>
              <a:gd name="adj" fmla="val 3043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Overtime stat card 1"/>
          <p:cNvSpPr/>
          <p:nvPr/>
        </p:nvSpPr>
        <p:spPr>
          <a:xfrm>
            <a:off x="6583680" y="155448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Overtime stat 1"/>
          <p:cNvSpPr txBox="1"/>
          <p:nvPr/>
        </p:nvSpPr>
        <p:spPr>
          <a:xfrm>
            <a:off x="6812280" y="1737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buNone/>
              <a:defRPr sz="48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28%</a:t>
            </a:r>
          </a:p>
        </p:txBody>
      </p:sp>
      <p:sp>
        <p:nvSpPr>
          <p:cNvPr id="7" name="Overtime stat 1 label"/>
          <p:cNvSpPr txBox="1"/>
          <p:nvPr/>
        </p:nvSpPr>
        <p:spPr>
          <a:xfrm>
            <a:off x="681228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buNone/>
              <a:defRPr sz="1600"/>
            </a:lvl1pPr>
          </a:lstStyle>
          <a:p>
            <a:r>
              <a:rPr lang="en-US" dirty="0"/>
              <a:t>of employees work overtime (416 / 1470 )</a:t>
            </a:r>
          </a:p>
        </p:txBody>
      </p:sp>
      <p:sp>
        <p:nvSpPr>
          <p:cNvPr id="8" name="Overtime stat card 2"/>
          <p:cNvSpPr/>
          <p:nvPr/>
        </p:nvSpPr>
        <p:spPr>
          <a:xfrm>
            <a:off x="9171432" y="155448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Overtime stat 2"/>
          <p:cNvSpPr txBox="1"/>
          <p:nvPr/>
        </p:nvSpPr>
        <p:spPr>
          <a:xfrm>
            <a:off x="9400032" y="1737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54%</a:t>
            </a:r>
            <a:endParaRPr lang="en-US" sz="4800" dirty="0"/>
          </a:p>
        </p:txBody>
      </p:sp>
      <p:sp>
        <p:nvSpPr>
          <p:cNvPr id="10" name="Overtime stat 2 label"/>
          <p:cNvSpPr txBox="1"/>
          <p:nvPr/>
        </p:nvSpPr>
        <p:spPr>
          <a:xfrm>
            <a:off x="9400032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of leavers worked overtime (127 of 237)</a:t>
            </a:r>
            <a:endParaRPr lang="en-US" sz="1600" dirty="0"/>
          </a:p>
        </p:txBody>
      </p:sp>
      <p:sp>
        <p:nvSpPr>
          <p:cNvPr id="11" name="Overtime takeaway"/>
          <p:cNvSpPr txBox="1"/>
          <p:nvPr/>
        </p:nvSpPr>
        <p:spPr>
          <a:xfrm>
            <a:off x="6583680" y="3840480"/>
            <a:ext cx="5056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Overtime workers are about a quarter of the workforce but over half of the people who left. Workload is the clearest lever in this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AE4957F-D6EA-A8C8-1CF9-A6B0C3C9F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88" y="1684768"/>
            <a:ext cx="5056632" cy="4075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Attrition peaks early in careers and in new roles</a:t>
            </a:r>
            <a:endParaRPr lang="en-US" sz="3200" dirty="0"/>
          </a:p>
        </p:txBody>
      </p:sp>
      <p:sp>
        <p:nvSpPr>
          <p:cNvPr id="3" name="Work years chart card"/>
          <p:cNvSpPr/>
          <p:nvPr/>
        </p:nvSpPr>
        <p:spPr>
          <a:xfrm>
            <a:off x="548640" y="1463040"/>
            <a:ext cx="536432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Attrition rate by total working years" descr="Attrition rate by total working yea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2768"/>
            <a:ext cx="5090008" cy="1738593"/>
          </a:xfrm>
          <a:prstGeom prst="rect">
            <a:avLst/>
          </a:prstGeom>
        </p:spPr>
      </p:pic>
      <p:sp>
        <p:nvSpPr>
          <p:cNvPr id="5" name="Role years chart card"/>
          <p:cNvSpPr/>
          <p:nvPr/>
        </p:nvSpPr>
        <p:spPr>
          <a:xfrm>
            <a:off x="6278728" y="1463040"/>
            <a:ext cx="536432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Attrition rate by years in current role" descr="Attrition rate by years in current ro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1572768"/>
            <a:ext cx="5090008" cy="1864363"/>
          </a:xfrm>
          <a:prstGeom prst="rect">
            <a:avLst/>
          </a:prstGeom>
        </p:spPr>
      </p:pic>
      <p:sp>
        <p:nvSpPr>
          <p:cNvPr id="7" name="Early takeaway 1"/>
          <p:cNvSpPr txBox="1"/>
          <p:nvPr/>
        </p:nvSpPr>
        <p:spPr>
          <a:xfrm>
            <a:off x="548640" y="3794760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About 1 in 3 employees with under 5 years of total experience leaves.</a:t>
            </a:r>
            <a:endParaRPr lang="en-US" sz="1600" dirty="0"/>
          </a:p>
        </p:txBody>
      </p:sp>
      <p:sp>
        <p:nvSpPr>
          <p:cNvPr id="8" name="Early takeaway 2"/>
          <p:cNvSpPr txBox="1"/>
          <p:nvPr/>
        </p:nvSpPr>
        <p:spPr>
          <a:xfrm>
            <a:off x="6278728" y="3794760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Employees new to their current role leave at roughly 22%, the highest of any tenure group.</a:t>
            </a:r>
            <a:endParaRPr lang="en-US" sz="1600" dirty="0"/>
          </a:p>
        </p:txBody>
      </p:sp>
      <p:sp>
        <p:nvSpPr>
          <p:cNvPr id="9" name="Early attrition callout"/>
          <p:cNvSpPr/>
          <p:nvPr/>
        </p:nvSpPr>
        <p:spPr>
          <a:xfrm>
            <a:off x="548640" y="4800600"/>
            <a:ext cx="11094415" cy="1097280"/>
          </a:xfrm>
          <a:prstGeom prst="roundRect">
            <a:avLst>
              <a:gd name="adj" fmla="val 11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Early callout value"/>
          <p:cNvSpPr txBox="1"/>
          <p:nvPr/>
        </p:nvSpPr>
        <p:spPr>
          <a:xfrm>
            <a:off x="914400" y="48006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102</a:t>
            </a:r>
            <a:endParaRPr lang="en-US" sz="4800" dirty="0"/>
          </a:p>
        </p:txBody>
      </p:sp>
      <p:sp>
        <p:nvSpPr>
          <p:cNvPr id="11" name="Early callout text"/>
          <p:cNvSpPr txBox="1"/>
          <p:nvPr/>
        </p:nvSpPr>
        <p:spPr>
          <a:xfrm>
            <a:off x="2468880" y="48006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leavers are classed as early attrition: 43% of everyone who left.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Long waits for promotion lift the risk again</a:t>
            </a:r>
            <a:endParaRPr lang="en-US" sz="3200" dirty="0"/>
          </a:p>
        </p:txBody>
      </p:sp>
      <p:sp>
        <p:nvSpPr>
          <p:cNvPr id="3" name="Promotion chart card"/>
          <p:cNvSpPr/>
          <p:nvPr/>
        </p:nvSpPr>
        <p:spPr>
          <a:xfrm>
            <a:off x="548640" y="1463040"/>
            <a:ext cx="5364328" cy="24688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Attrition rate by years since last promotion" descr="Attrition rate by years since last promo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04" y="1627632"/>
            <a:ext cx="4572000" cy="2074170"/>
          </a:xfrm>
          <a:prstGeom prst="rect">
            <a:avLst/>
          </a:prstGeom>
        </p:spPr>
      </p:pic>
      <p:sp>
        <p:nvSpPr>
          <p:cNvPr id="5" name="Marital chart card"/>
          <p:cNvSpPr/>
          <p:nvPr/>
        </p:nvSpPr>
        <p:spPr>
          <a:xfrm>
            <a:off x="6278728" y="1463040"/>
            <a:ext cx="5364328" cy="2468880"/>
          </a:xfrm>
          <a:prstGeom prst="roundRect">
            <a:avLst>
              <a:gd name="adj" fmla="val 5185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Leavers by marital status" descr="Leavers by marital stat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891" y="1627632"/>
            <a:ext cx="4572000" cy="2224216"/>
          </a:xfrm>
          <a:prstGeom prst="rect">
            <a:avLst/>
          </a:prstGeom>
        </p:spPr>
      </p:pic>
      <p:sp>
        <p:nvSpPr>
          <p:cNvPr id="7" name="Promotion takeaway"/>
          <p:cNvSpPr txBox="1"/>
          <p:nvPr/>
        </p:nvSpPr>
        <p:spPr>
          <a:xfrm>
            <a:off x="548640" y="4114800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attrition rate climbs to about 23% for employees waiting longest for a promotion.</a:t>
            </a:r>
            <a:endParaRPr lang="en-US" sz="1600" dirty="0"/>
          </a:p>
        </p:txBody>
      </p:sp>
      <p:sp>
        <p:nvSpPr>
          <p:cNvPr id="8" name="Marital takeaway"/>
          <p:cNvSpPr txBox="1"/>
          <p:nvPr/>
        </p:nvSpPr>
        <p:spPr>
          <a:xfrm>
            <a:off x="6278728" y="4114800"/>
            <a:ext cx="5364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Single employees are 120 of the 237 leavers (51%). This chart shows counts, not rates.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report: three pages, one story</a:t>
            </a:r>
            <a:endParaRPr lang="en-US" sz="3200" dirty="0"/>
          </a:p>
        </p:txBody>
      </p:sp>
      <p:sp>
        <p:nvSpPr>
          <p:cNvPr id="3" name="Page card 1"/>
          <p:cNvSpPr/>
          <p:nvPr/>
        </p:nvSpPr>
        <p:spPr>
          <a:xfrm>
            <a:off x="548640" y="1554480"/>
            <a:ext cx="351525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Overview page" descr="Overview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3332378" cy="1806261"/>
          </a:xfrm>
          <a:prstGeom prst="rect">
            <a:avLst/>
          </a:prstGeom>
        </p:spPr>
      </p:pic>
      <p:sp>
        <p:nvSpPr>
          <p:cNvPr id="5" name="Page name 1"/>
          <p:cNvSpPr txBox="1"/>
          <p:nvPr/>
        </p:nvSpPr>
        <p:spPr>
          <a:xfrm>
            <a:off x="548640" y="38862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Overview</a:t>
            </a:r>
            <a:endParaRPr lang="en-US" sz="1800" dirty="0"/>
          </a:p>
        </p:txBody>
      </p:sp>
      <p:sp>
        <p:nvSpPr>
          <p:cNvPr id="6" name="Page text 1"/>
          <p:cNvSpPr txBox="1"/>
          <p:nvPr/>
        </p:nvSpPr>
        <p:spPr>
          <a:xfrm>
            <a:off x="548640" y="457200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Who we are and where attrition sits.</a:t>
            </a:r>
            <a:endParaRPr lang="en-US" sz="1400" dirty="0"/>
          </a:p>
        </p:txBody>
      </p:sp>
      <p:sp>
        <p:nvSpPr>
          <p:cNvPr id="7" name="Page card 2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Attrition Root Cause Analysis page" descr="Attrition Root Cause Analysis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658" y="1645920"/>
            <a:ext cx="3332378" cy="1774418"/>
          </a:xfrm>
          <a:prstGeom prst="rect">
            <a:avLst/>
          </a:prstGeom>
        </p:spPr>
      </p:pic>
      <p:sp>
        <p:nvSpPr>
          <p:cNvPr id="9" name="Page name 2"/>
          <p:cNvSpPr txBox="1"/>
          <p:nvPr/>
        </p:nvSpPr>
        <p:spPr>
          <a:xfrm>
            <a:off x="4338218" y="38862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Attrition Root Cause Analysis</a:t>
            </a:r>
            <a:endParaRPr lang="en-US" sz="1800" dirty="0"/>
          </a:p>
        </p:txBody>
      </p:sp>
      <p:sp>
        <p:nvSpPr>
          <p:cNvPr id="10" name="Page text 2"/>
          <p:cNvSpPr txBox="1"/>
          <p:nvPr/>
        </p:nvSpPr>
        <p:spPr>
          <a:xfrm>
            <a:off x="4338218" y="457200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How overtime, satisfaction, income and role relate to leaving.</a:t>
            </a:r>
            <a:endParaRPr lang="en-US" sz="1400" dirty="0"/>
          </a:p>
        </p:txBody>
      </p:sp>
      <p:sp>
        <p:nvSpPr>
          <p:cNvPr id="11" name="Page card 3"/>
          <p:cNvSpPr/>
          <p:nvPr/>
        </p:nvSpPr>
        <p:spPr>
          <a:xfrm>
            <a:off x="8127797" y="1554480"/>
            <a:ext cx="3515258" cy="2103120"/>
          </a:xfrm>
          <a:prstGeom prst="roundRect">
            <a:avLst>
              <a:gd name="adj" fmla="val 6087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Workforce Retention Vulnerabilities page" descr="Workforce Retention Vulnerabilities p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237" y="1645920"/>
            <a:ext cx="3332378" cy="1816441"/>
          </a:xfrm>
          <a:prstGeom prst="rect">
            <a:avLst/>
          </a:prstGeom>
        </p:spPr>
      </p:pic>
      <p:sp>
        <p:nvSpPr>
          <p:cNvPr id="13" name="Page name 3"/>
          <p:cNvSpPr txBox="1"/>
          <p:nvPr/>
        </p:nvSpPr>
        <p:spPr>
          <a:xfrm>
            <a:off x="8127797" y="38862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Workforce Retention Vulnerabilities</a:t>
            </a:r>
            <a:endParaRPr lang="en-US" sz="1800" dirty="0"/>
          </a:p>
        </p:txBody>
      </p:sp>
      <p:sp>
        <p:nvSpPr>
          <p:cNvPr id="14" name="Page text 3"/>
          <p:cNvSpPr txBox="1"/>
          <p:nvPr/>
        </p:nvSpPr>
        <p:spPr>
          <a:xfrm>
            <a:off x="8127797" y="457200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Tenure, promotion and role signals, with a drill-through to employee detail.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Recommended Actions :-</a:t>
            </a:r>
            <a:endParaRPr lang="en-US" sz="3200" dirty="0"/>
          </a:p>
        </p:txBody>
      </p:sp>
      <p:sp>
        <p:nvSpPr>
          <p:cNvPr id="3" name="Action card 1"/>
          <p:cNvSpPr/>
          <p:nvPr/>
        </p:nvSpPr>
        <p:spPr>
          <a:xfrm>
            <a:off x="548640" y="1417320"/>
            <a:ext cx="11094415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ction number 1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Action digit 1"/>
          <p:cNvSpPr txBox="1"/>
          <p:nvPr/>
        </p:nvSpPr>
        <p:spPr>
          <a:xfrm>
            <a:off x="8229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Action title 1"/>
          <p:cNvSpPr txBox="1"/>
          <p:nvPr/>
        </p:nvSpPr>
        <p:spPr>
          <a:xfrm>
            <a:off x="1737360" y="1508760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Reduce overtime where it concentrates</a:t>
            </a:r>
            <a:endParaRPr lang="en-US" sz="2000" dirty="0"/>
          </a:p>
        </p:txBody>
      </p:sp>
      <p:sp>
        <p:nvSpPr>
          <p:cNvPr id="7" name="Action text 1"/>
          <p:cNvSpPr txBox="1"/>
          <p:nvPr/>
        </p:nvSpPr>
        <p:spPr>
          <a:xfrm>
            <a:off x="1737360" y="1892808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Overtime workers leave at 30.5% against about 10%. Start with the roles carrying the most overtime.</a:t>
            </a:r>
            <a:endParaRPr lang="en-US" sz="1400" dirty="0"/>
          </a:p>
        </p:txBody>
      </p:sp>
      <p:sp>
        <p:nvSpPr>
          <p:cNvPr id="8" name="Action card 2"/>
          <p:cNvSpPr/>
          <p:nvPr/>
        </p:nvSpPr>
        <p:spPr>
          <a:xfrm>
            <a:off x="548640" y="2606040"/>
            <a:ext cx="11094415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Action number 2"/>
          <p:cNvSpPr/>
          <p:nvPr/>
        </p:nvSpPr>
        <p:spPr>
          <a:xfrm>
            <a:off x="822960" y="2788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Action digit 2"/>
          <p:cNvSpPr txBox="1"/>
          <p:nvPr/>
        </p:nvSpPr>
        <p:spPr>
          <a:xfrm>
            <a:off x="82296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Action title 2"/>
          <p:cNvSpPr txBox="1"/>
          <p:nvPr/>
        </p:nvSpPr>
        <p:spPr>
          <a:xfrm>
            <a:off x="1737360" y="2697480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Protect the first two years</a:t>
            </a:r>
            <a:endParaRPr lang="en-US" sz="2000" dirty="0"/>
          </a:p>
        </p:txBody>
      </p:sp>
      <p:sp>
        <p:nvSpPr>
          <p:cNvPr id="12" name="Action text 2"/>
          <p:cNvSpPr txBox="1"/>
          <p:nvPr/>
        </p:nvSpPr>
        <p:spPr>
          <a:xfrm>
            <a:off x="1737360" y="3081528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43% of leavers are early attrition. Add structured onboarding, mentoring and early check-ins.</a:t>
            </a:r>
            <a:endParaRPr lang="en-US" sz="1400" dirty="0"/>
          </a:p>
        </p:txBody>
      </p:sp>
      <p:sp>
        <p:nvSpPr>
          <p:cNvPr id="13" name="Action card 3"/>
          <p:cNvSpPr/>
          <p:nvPr/>
        </p:nvSpPr>
        <p:spPr>
          <a:xfrm>
            <a:off x="548640" y="3794760"/>
            <a:ext cx="11094415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Action number 3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Action digit 3"/>
          <p:cNvSpPr txBox="1"/>
          <p:nvPr/>
        </p:nvSpPr>
        <p:spPr>
          <a:xfrm>
            <a:off x="8229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Action title 3"/>
          <p:cNvSpPr txBox="1"/>
          <p:nvPr/>
        </p:nvSpPr>
        <p:spPr>
          <a:xfrm>
            <a:off x="1737360" y="3886200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Review promotion paths</a:t>
            </a:r>
            <a:endParaRPr lang="en-US" sz="2000" dirty="0"/>
          </a:p>
        </p:txBody>
      </p:sp>
      <p:sp>
        <p:nvSpPr>
          <p:cNvPr id="17" name="Action text 3"/>
          <p:cNvSpPr txBox="1"/>
          <p:nvPr/>
        </p:nvSpPr>
        <p:spPr>
          <a:xfrm>
            <a:off x="1737360" y="4270248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rate climbs to about 23% for the longest wait since promotion. Set a review point for long-tenured, non-promoted staff.</a:t>
            </a:r>
            <a:endParaRPr lang="en-US" sz="1400" dirty="0"/>
          </a:p>
        </p:txBody>
      </p:sp>
      <p:sp>
        <p:nvSpPr>
          <p:cNvPr id="18" name="Action card 4"/>
          <p:cNvSpPr/>
          <p:nvPr/>
        </p:nvSpPr>
        <p:spPr>
          <a:xfrm>
            <a:off x="548640" y="4983480"/>
            <a:ext cx="11094415" cy="1005840"/>
          </a:xfrm>
          <a:prstGeom prst="roundRect">
            <a:avLst>
              <a:gd name="adj" fmla="val 12727"/>
            </a:avLst>
          </a:prstGeom>
          <a:solidFill>
            <a:schemeClr val="bg1"/>
          </a:solidFill>
          <a:ln w="9525">
            <a:solidFill>
              <a:srgbClr val="DCE5EE"/>
            </a:solidFill>
            <a:prstDash val="solid"/>
          </a:ln>
          <a:effectLst>
            <a:outerShdw blurRad="152400" dist="381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Action number 4"/>
          <p:cNvSpPr/>
          <p:nvPr/>
        </p:nvSpPr>
        <p:spPr>
          <a:xfrm>
            <a:off x="822960" y="5166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Action digit 4"/>
          <p:cNvSpPr txBox="1"/>
          <p:nvPr/>
        </p:nvSpPr>
        <p:spPr>
          <a:xfrm>
            <a:off x="82296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Action title 4"/>
          <p:cNvSpPr txBox="1"/>
          <p:nvPr/>
        </p:nvSpPr>
        <p:spPr>
          <a:xfrm>
            <a:off x="1737360" y="5074920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Build a plan for Sales Representatives</a:t>
            </a:r>
            <a:endParaRPr lang="en-US" sz="2000" dirty="0"/>
          </a:p>
        </p:txBody>
      </p:sp>
      <p:sp>
        <p:nvSpPr>
          <p:cNvPr id="22" name="Action text 4"/>
          <p:cNvSpPr txBox="1"/>
          <p:nvPr/>
        </p:nvSpPr>
        <p:spPr>
          <a:xfrm>
            <a:off x="1737360" y="5458968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About 40% attrition, 2.5× the company rate. Look at workload, pay and career path together.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315031" y="1380754"/>
            <a:ext cx="5561938" cy="251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</a:pP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Closing line"/>
          <p:cNvSpPr txBox="1"/>
          <p:nvPr/>
        </p:nvSpPr>
        <p:spPr>
          <a:xfrm>
            <a:off x="3315031" y="4076802"/>
            <a:ext cx="5561938" cy="1534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Muhammed Ateff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7444" y="6356350"/>
            <a:ext cx="886355" cy="36512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>
              <a:spcAft>
                <a:spcPts val="600"/>
              </a:spcAft>
            </a:pPr>
            <a:fld id="{F7021451-1387-4CA6-816F-3879F97B5CBC}" type="slidenum">
              <a:rPr lang="en-US" sz="1200" b="0">
                <a:solidFill>
                  <a:srgbClr val="FFFFFF"/>
                </a:solidFill>
              </a:rPr>
              <a:pPr algn="r">
                <a:spcAft>
                  <a:spcPts val="600"/>
                </a:spcAft>
              </a:pPr>
              <a:t>10</a:t>
            </a:fld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53E7-1B20-6D4C-D386-17A7E0C1B4A6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The SQL task :-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0979151-9326-9A27-78DA-ED1A1BAB15BB}"/>
              </a:ext>
            </a:extLst>
          </p:cNvPr>
          <p:cNvSpPr txBox="1">
            <a:spLocks/>
          </p:cNvSpPr>
          <p:nvPr/>
        </p:nvSpPr>
        <p:spPr>
          <a:xfrm>
            <a:off x="548640" y="1341119"/>
            <a:ext cx="11094415" cy="479572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Select Department , Count(*) as </a:t>
            </a:r>
            <a:r>
              <a:rPr lang="en-US" dirty="0" err="1"/>
              <a:t>Attrition_Count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Attrition_data</a:t>
            </a:r>
            <a:endParaRPr lang="en-US" dirty="0"/>
          </a:p>
          <a:p>
            <a:r>
              <a:rPr lang="en-US" dirty="0"/>
              <a:t>Where Attrition = “Yes”</a:t>
            </a:r>
          </a:p>
          <a:p>
            <a:r>
              <a:rPr lang="en-US" dirty="0"/>
              <a:t>Group by 1</a:t>
            </a:r>
          </a:p>
          <a:p>
            <a:r>
              <a:rPr lang="en-US" dirty="0"/>
              <a:t>Order by 2 Desc</a:t>
            </a:r>
          </a:p>
        </p:txBody>
      </p:sp>
    </p:spTree>
    <p:extLst>
      <p:ext uri="{BB962C8B-B14F-4D97-AF65-F5344CB8AC3E}">
        <p14:creationId xmlns:p14="http://schemas.microsoft.com/office/powerpoint/2010/main" val="3527605732"/>
      </p:ext>
    </p:extLst>
  </p:cSld>
  <p:clrMapOvr>
    <a:masterClrMapping/>
  </p:clrMapOvr>
</p:sld>
</file>

<file path=ppt/theme/theme1.xml><?xml version="1.0" encoding="utf-8"?>
<a:theme xmlns:a="http://schemas.openxmlformats.org/drawingml/2006/main" name="HR Attrition Blue">
  <a:themeElements>
    <a:clrScheme name="HR Attrition Blue">
      <a:dk1>
        <a:srgbClr val="1E3A5F"/>
      </a:dk1>
      <a:lt1>
        <a:srgbClr val="FFFFFF"/>
      </a:lt1>
      <a:dk2>
        <a:srgbClr val="3A4A5E"/>
      </a:dk2>
      <a:lt2>
        <a:srgbClr val="F5F8FB"/>
      </a:lt2>
      <a:accent1>
        <a:srgbClr val="3B82C4"/>
      </a:accent1>
      <a:accent2>
        <a:srgbClr val="1E3A5F"/>
      </a:accent2>
      <a:accent3>
        <a:srgbClr val="BFE0F5"/>
      </a:accent3>
      <a:accent4>
        <a:srgbClr val="EFE6D8"/>
      </a:accent4>
      <a:accent5>
        <a:srgbClr val="5B6B7F"/>
      </a:accent5>
      <a:accent6>
        <a:srgbClr val="D9534F"/>
      </a:accent6>
      <a:hlink>
        <a:srgbClr val="3B82C4"/>
      </a:hlink>
      <a:folHlink>
        <a:srgbClr val="5B6B7F"/>
      </a:folHlink>
    </a:clrScheme>
    <a:fontScheme name="HR Attrition Blu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800</Words>
  <Application>Microsoft Office PowerPoint</Application>
  <PresentationFormat>Widescreen</PresentationFormat>
  <Paragraphs>108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HR Attrition Blue</vt:lpstr>
      <vt:lpstr>PowerPoint Presentation</vt:lpstr>
      <vt:lpstr>From raw HR data to a clear attrition story</vt:lpstr>
      <vt:lpstr>Workforce Attrition Summary</vt:lpstr>
      <vt:lpstr>Sales Representatives leave at 2.5× the company rate</vt:lpstr>
      <vt:lpstr>Overtime triples the chance of leaving</vt:lpstr>
      <vt:lpstr>Attrition peaks early in careers and in new roles</vt:lpstr>
      <vt:lpstr>Long waits for promotion lift the risk again</vt:lpstr>
      <vt:lpstr>The report: three pages, one story</vt:lpstr>
      <vt:lpstr>Recommended Actions :-</vt:lpstr>
      <vt:lpstr>Thanks</vt:lpstr>
      <vt:lpstr>The SQL task :-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</dc:title>
  <dc:subject>Power BI end-to-end case study</dc:subject>
  <dc:creator>PptxGenJS</dc:creator>
  <cp:lastModifiedBy>Muhammed Atef MarzouK</cp:lastModifiedBy>
  <cp:revision>8</cp:revision>
  <dcterms:created xsi:type="dcterms:W3CDTF">2026-10-09T22:04:45Z</dcterms:created>
  <dcterms:modified xsi:type="dcterms:W3CDTF">2026-10-09T22:47:37Z</dcterms:modified>
</cp:coreProperties>
</file>